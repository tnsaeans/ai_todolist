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Fira Mono"/>
      <p:regular r:id="rId15"/>
      <p:bold r:id="rId16"/>
    </p:embeddedFont>
    <p:embeddedFont>
      <p:font typeface="Fira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Mono-regular.fntdata"/><Relationship Id="rId14" Type="http://schemas.openxmlformats.org/officeDocument/2006/relationships/slide" Target="slides/slide10.xml"/><Relationship Id="rId17" Type="http://schemas.openxmlformats.org/officeDocument/2006/relationships/font" Target="fonts/FiraSans-regular.fntdata"/><Relationship Id="rId16" Type="http://schemas.openxmlformats.org/officeDocument/2006/relationships/font" Target="fonts/FiraMono-bold.fntdata"/><Relationship Id="rId5" Type="http://schemas.openxmlformats.org/officeDocument/2006/relationships/slide" Target="slides/slide1.xml"/><Relationship Id="rId19" Type="http://schemas.openxmlformats.org/officeDocument/2006/relationships/font" Target="fonts/FiraSans-italic.fntdata"/><Relationship Id="rId6" Type="http://schemas.openxmlformats.org/officeDocument/2006/relationships/slide" Target="slides/slide2.xml"/><Relationship Id="rId18" Type="http://schemas.openxmlformats.org/officeDocument/2006/relationships/font" Target="fonts/Fira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200" y="2483200"/>
            <a:ext cx="6265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1" i="0" lang="en-US" sz="5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AI To-Do List Assistant</a:t>
            </a:r>
            <a:endParaRPr b="1" i="0" sz="5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5446824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2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Smart task management for daily chores.</a:t>
            </a:r>
            <a:endParaRPr b="0" i="0" sz="2750" u="none" cap="none" strike="noStrike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113" y="427925"/>
            <a:ext cx="4506175" cy="73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793790" y="3501033"/>
            <a:ext cx="578322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1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Executive Summary</a:t>
            </a:r>
            <a:endParaRPr b="1" i="0" sz="44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45499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The AI To-Do List Assistant is an intelligent task management system designed to organize and track daily chores. It uses NLP to understand commands like "Add task: Submit assignment by Friday" and manages them effectively.</a:t>
            </a:r>
            <a:endParaRPr i="0" sz="17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93790" y="553092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020604" y="5757743"/>
            <a:ext cx="3400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Core Functionalities</a:t>
            </a:r>
            <a:endParaRPr b="1" i="0" sz="2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1020604" y="624816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Add, delete, list, summarize tasks, and provide reminders.</a:t>
            </a:r>
            <a:endParaRPr b="0" i="0" sz="17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5216962" y="553092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5443776" y="57577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PEAS Framework</a:t>
            </a:r>
            <a:endParaRPr b="1" i="0" sz="22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5443776" y="6248162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Performance, Environment, Actuators, Sensors define its intelligent operation.</a:t>
            </a:r>
            <a:endParaRPr b="0" i="0" sz="17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9640133" y="553092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9866948" y="57577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Key Outcomes</a:t>
            </a:r>
            <a:endParaRPr b="1" i="0" sz="22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9866948" y="624816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Improved productivity, timely reminders, customizable task flow.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793790" y="1954530"/>
            <a:ext cx="986540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0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Project Overview &amp; Objectives</a:t>
            </a:r>
            <a:endParaRPr b="0" i="0" sz="44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793790" y="3230285"/>
            <a:ext cx="35705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Dual Interface System</a:t>
            </a:r>
            <a:endParaRPr b="1" i="0" sz="220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793790" y="381142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Offers both a Streamlit UI and a Command Line Interface (CLI) for task management.</a:t>
            </a:r>
            <a:endParaRPr b="0" i="0" sz="17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93790" y="4764048"/>
            <a:ext cx="35705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Reliable Task Storage</a:t>
            </a:r>
            <a:endParaRPr b="1" i="0" sz="220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793790" y="534519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Ensures persistent task storage using JSON files.</a:t>
            </a:r>
            <a:endParaRPr b="0" i="0" sz="17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7599521" y="3230285"/>
            <a:ext cx="40806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Priority &amp; Notifications</a:t>
            </a:r>
            <a:endParaRPr b="1" i="0" sz="220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7599521" y="381142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Supports priority-based organization and deadline notifications.</a:t>
            </a:r>
            <a:endParaRPr b="0" i="0" sz="17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599521" y="47640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NLP for CLI</a:t>
            </a:r>
            <a:endParaRPr b="1" i="0" sz="22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7599521" y="5345192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CLI uses NLP for natural language input processing and dynamic task creation.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793790" y="868561"/>
            <a:ext cx="714398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0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AI Agent Architecture</a:t>
            </a:r>
            <a:endParaRPr b="0" i="0" sz="4450" u="none" cap="none" strike="noStrike"/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91750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2154674" y="2144316"/>
            <a:ext cx="35705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Form Input Processing</a:t>
            </a:r>
            <a:endParaRPr b="1" i="0" sz="22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2154674" y="2634734"/>
            <a:ext cx="80243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Streamlit widgets with validation.</a:t>
            </a:r>
            <a:endParaRPr b="0" i="0" sz="1750" u="none" cap="none" strike="noStrike"/>
          </a:p>
        </p:txBody>
      </p:sp>
      <p:pic>
        <p:nvPicPr>
          <p:cNvPr descr="preencoded.png" id="101" name="Google Shape;10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278386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2154674" y="3505200"/>
            <a:ext cx="39106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Task Storage Management</a:t>
            </a:r>
            <a:endParaRPr b="1" i="0" sz="220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2154674" y="3995618"/>
            <a:ext cx="80243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JSON persistence for tasks.</a:t>
            </a:r>
            <a:endParaRPr b="0" i="0" sz="1750" u="none" cap="none" strike="noStrike"/>
          </a:p>
        </p:txBody>
      </p:sp>
      <p:pic>
        <p:nvPicPr>
          <p:cNvPr descr="preencoded.png" id="104" name="Google Shape;10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639270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2154674" y="4866084"/>
            <a:ext cx="42506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Scheduled Reminder Checks</a:t>
            </a:r>
            <a:endParaRPr b="1" i="0" sz="22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2154674" y="5356503"/>
            <a:ext cx="80243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Monitors deadlines.</a:t>
            </a:r>
            <a:endParaRPr b="0" i="0" sz="1750" u="none" cap="none" strike="noStrike"/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6000155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2154674" y="62269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CLI NLP Layer</a:t>
            </a:r>
            <a:endParaRPr b="1" i="0" sz="22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2154674" y="6717387"/>
            <a:ext cx="80243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Processes natural language commands.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793790" y="76390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1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PEAS Framework</a:t>
            </a:r>
            <a:endParaRPr b="1" i="0" sz="4450" u="none" cap="none" strike="noStrike"/>
          </a:p>
        </p:txBody>
      </p:sp>
      <p:pic>
        <p:nvPicPr>
          <p:cNvPr descr="preencoded.png" id="117" name="Google Shape;1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812846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1644253" y="19475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Performance</a:t>
            </a:r>
            <a:endParaRPr b="1" i="0" sz="220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1644253" y="2437924"/>
            <a:ext cx="853475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Accuracy of task operations, reminder timing, NLP success rate.</a:t>
            </a:r>
            <a:endParaRPr b="0" i="0" sz="1750" u="none" cap="none" strike="noStrike"/>
          </a:p>
        </p:txBody>
      </p:sp>
      <p:pic>
        <p:nvPicPr>
          <p:cNvPr descr="preencoded.png" id="120" name="Google Shape;1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36780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1644253" y="35024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Environment</a:t>
            </a:r>
            <a:endParaRPr b="1" i="0" sz="220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1644253" y="3992880"/>
            <a:ext cx="853475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Streamlit web UI and CLI for NLP-based interaction.</a:t>
            </a:r>
            <a:endParaRPr b="0" i="0" sz="1750" u="none" cap="none" strike="noStrike"/>
          </a:p>
        </p:txBody>
      </p:sp>
      <p:pic>
        <p:nvPicPr>
          <p:cNvPr descr="preencoded.png" id="123" name="Google Shape;12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92275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1644253" y="50574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Actuators</a:t>
            </a:r>
            <a:endParaRPr b="1" i="0" sz="220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1644253" y="5547836"/>
            <a:ext cx="853475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Task list modifications, visual reminders, console outputs.</a:t>
            </a:r>
            <a:endParaRPr b="0" i="0" sz="1750" u="none" cap="none" strike="noStrike"/>
          </a:p>
        </p:txBody>
      </p:sp>
      <p:pic>
        <p:nvPicPr>
          <p:cNvPr descr="preencoded.png" id="126" name="Google Shape;12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647771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1644253" y="66123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Sensors</a:t>
            </a:r>
            <a:endParaRPr b="1" i="0" sz="220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1644253" y="7102793"/>
            <a:ext cx="853475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Web form inputs, system clock, text commands with entities.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735925" y="578168"/>
            <a:ext cx="7252573" cy="656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100"/>
              <a:buFont typeface="Fira Mono"/>
              <a:buNone/>
            </a:pPr>
            <a:r>
              <a:rPr b="1" i="0" lang="en-US" sz="41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Algorithms &amp; Techniques</a:t>
            </a:r>
            <a:endParaRPr b="1" i="0" sz="4100" u="none" cap="none" strike="noStrike"/>
          </a:p>
        </p:txBody>
      </p:sp>
      <p:sp>
        <p:nvSpPr>
          <p:cNvPr id="135" name="Google Shape;135;p18"/>
          <p:cNvSpPr/>
          <p:nvPr/>
        </p:nvSpPr>
        <p:spPr>
          <a:xfrm>
            <a:off x="735925" y="1655683"/>
            <a:ext cx="473035" cy="473035"/>
          </a:xfrm>
          <a:prstGeom prst="roundRect">
            <a:avLst>
              <a:gd fmla="val 6668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1419225" y="1727954"/>
            <a:ext cx="45722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Fira Mono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Streamlit Reactive Components</a:t>
            </a:r>
            <a:endParaRPr b="1" i="0" sz="20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1419225" y="2182654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For UI management.</a:t>
            </a:r>
            <a:endParaRPr b="0" i="0" sz="165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735925" y="2939534"/>
            <a:ext cx="473035" cy="473035"/>
          </a:xfrm>
          <a:prstGeom prst="roundRect">
            <a:avLst>
              <a:gd fmla="val 6668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1419225" y="3011805"/>
            <a:ext cx="37839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Fira Mono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spaCy Entity Recognition</a:t>
            </a:r>
            <a:endParaRPr b="1" i="0" sz="2050" u="none" cap="none" strike="noStrike"/>
          </a:p>
        </p:txBody>
      </p:sp>
      <p:sp>
        <p:nvSpPr>
          <p:cNvPr id="140" name="Google Shape;140;p18"/>
          <p:cNvSpPr/>
          <p:nvPr/>
        </p:nvSpPr>
        <p:spPr>
          <a:xfrm>
            <a:off x="1419225" y="3466505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For CLI command parsing.</a:t>
            </a:r>
            <a:endParaRPr b="0" i="0" sz="165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735925" y="4223385"/>
            <a:ext cx="473035" cy="473035"/>
          </a:xfrm>
          <a:prstGeom prst="roundRect">
            <a:avLst>
              <a:gd fmla="val 6668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419225" y="4295656"/>
            <a:ext cx="346864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Fira Mono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Priority-Based Sorting</a:t>
            </a:r>
            <a:endParaRPr b="1" i="0" sz="205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1419225" y="4750356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Very important/medium/low.</a:t>
            </a:r>
            <a:endParaRPr b="0" i="0" sz="165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35925" y="5507236"/>
            <a:ext cx="473035" cy="473035"/>
          </a:xfrm>
          <a:prstGeom prst="roundRect">
            <a:avLst>
              <a:gd fmla="val 6668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1419225" y="5579507"/>
            <a:ext cx="2837974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Fira Mono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JSON Serialization</a:t>
            </a:r>
            <a:endParaRPr b="1" i="0" sz="205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1419225" y="6034207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For platform-independent storage.</a:t>
            </a:r>
            <a:endParaRPr b="0" i="0" sz="16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35925" y="6791087"/>
            <a:ext cx="473035" cy="473035"/>
          </a:xfrm>
          <a:prstGeom prst="roundRect">
            <a:avLst>
              <a:gd fmla="val 6668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1419225" y="6863358"/>
            <a:ext cx="315325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Fira Mono"/>
              <a:buNone/>
            </a:pPr>
            <a:r>
              <a:rPr b="1" i="0" lang="en-US" sz="20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Datetime Comparisons</a:t>
            </a:r>
            <a:endParaRPr b="1" i="0" sz="205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1419225" y="7318058"/>
            <a:ext cx="12475250" cy="33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Fira Sans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For reminder triggers.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782241" y="765453"/>
            <a:ext cx="9408319" cy="1396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350"/>
              <a:buFont typeface="Fira Mono"/>
              <a:buNone/>
            </a:pPr>
            <a:r>
              <a:rPr b="1" i="0" lang="en-US" sz="43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Development Challenges &amp; Solutions</a:t>
            </a:r>
            <a:endParaRPr b="1" i="0" sz="435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782241" y="2497455"/>
            <a:ext cx="223480" cy="1341001"/>
          </a:xfrm>
          <a:prstGeom prst="roundRect">
            <a:avLst>
              <a:gd fmla="val 15002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1229201" y="2720935"/>
            <a:ext cx="3184327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50"/>
              <a:buFont typeface="Fira Mono"/>
              <a:buNone/>
            </a:pPr>
            <a:r>
              <a:rPr b="1" i="0" lang="en-US" sz="21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Flexible User Input</a:t>
            </a:r>
            <a:endParaRPr b="1" i="0" sz="215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1229201" y="3204210"/>
            <a:ext cx="8961358" cy="357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Challenge: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Empty task descriptions.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Solution: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Input validation and clear error messages.</a:t>
            </a:r>
            <a:endParaRPr b="0" i="0" sz="17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1117402" y="4005977"/>
            <a:ext cx="223480" cy="1645325"/>
          </a:xfrm>
          <a:prstGeom prst="roundRect">
            <a:avLst>
              <a:gd fmla="val 15002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564362" y="4229457"/>
            <a:ext cx="4525089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50"/>
              <a:buFont typeface="Fira Mono"/>
              <a:buNone/>
            </a:pPr>
            <a:r>
              <a:rPr b="1" i="0" lang="en-US" sz="21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Calendar Due Date Selection</a:t>
            </a:r>
            <a:endParaRPr b="1" i="0" sz="215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1564362" y="4712732"/>
            <a:ext cx="8626197" cy="715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Challenge: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Manual date entry errors.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Solution: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`st.date_input` widget for calendar selection.</a:t>
            </a:r>
            <a:endParaRPr b="0" i="0" sz="17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1452682" y="5818823"/>
            <a:ext cx="223480" cy="1645325"/>
          </a:xfrm>
          <a:prstGeom prst="roundRect">
            <a:avLst>
              <a:gd fmla="val 15002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1899642" y="6042303"/>
            <a:ext cx="3184327" cy="34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150"/>
              <a:buFont typeface="Fira Mono"/>
              <a:buNone/>
            </a:pPr>
            <a:r>
              <a:rPr b="1" i="0" lang="en-US" sz="215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Persistent UI State</a:t>
            </a:r>
            <a:endParaRPr b="1" i="0" sz="215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1899642" y="6525578"/>
            <a:ext cx="8290917" cy="715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Challenge: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Streamlit reruns losing state.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Solution: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`st.session_state` to retain inputs and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793790" y="1084659"/>
            <a:ext cx="646354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1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Performance Metrics</a:t>
            </a:r>
            <a:endParaRPr b="1" i="0" sz="445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793790" y="2360414"/>
            <a:ext cx="442067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Task Operations Efficiency</a:t>
            </a:r>
            <a:endParaRPr b="1" i="0" sz="22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793790" y="294155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CRUD Latency: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&lt; 100ms for local JSON updates.</a:t>
            </a:r>
            <a:endParaRPr b="0" i="0" sz="17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793790" y="338375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Storage Scalability: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&gt; 1,000 tasks before UI lag.</a:t>
            </a:r>
            <a:endParaRPr b="0" i="0" sz="1750" u="none" cap="none" strike="noStrike"/>
          </a:p>
        </p:txBody>
      </p:sp>
      <p:sp>
        <p:nvSpPr>
          <p:cNvPr id="175" name="Google Shape;175;p20"/>
          <p:cNvSpPr/>
          <p:nvPr/>
        </p:nvSpPr>
        <p:spPr>
          <a:xfrm>
            <a:off x="793790" y="397347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Reminder System</a:t>
            </a:r>
            <a:endParaRPr b="1" i="0" sz="220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793790" y="455461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Check Overhead: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0.5ms per 100 tasks.</a:t>
            </a:r>
            <a:endParaRPr b="0" i="0" sz="17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793790" y="499681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Frequency: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Runs on every Streamlit rerun.</a:t>
            </a:r>
            <a:endParaRPr b="0" i="0" sz="175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7599521" y="2360414"/>
            <a:ext cx="425065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Web Interface (Streamlit)</a:t>
            </a:r>
            <a:endParaRPr b="1" i="0" sz="220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7599521" y="294155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Render Time: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&lt; 1s initial load, 200-500ms rerun latency.</a:t>
            </a:r>
            <a:endParaRPr b="0" i="0" sz="17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7599521" y="3383756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Concurrency:</a:t>
            </a: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Default thread-safe for single-user sessions.</a:t>
            </a:r>
            <a:endParaRPr b="0" i="0" sz="1750" u="none" cap="none" strike="noStrike"/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9600" t="0"/>
          <a:stretch/>
        </p:blipFill>
        <p:spPr>
          <a:xfrm>
            <a:off x="5773725" y="3973475"/>
            <a:ext cx="8633376" cy="386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793790" y="1047512"/>
            <a:ext cx="850463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1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Limitations &amp; Future Work</a:t>
            </a:r>
            <a:endParaRPr b="1" i="0" sz="4450" u="none" cap="none" strike="noStrike"/>
          </a:p>
        </p:txBody>
      </p:sp>
      <p:sp>
        <p:nvSpPr>
          <p:cNvPr id="189" name="Google Shape;189;p2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1530906" y="2174319"/>
            <a:ext cx="35705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No Multi-User Support</a:t>
            </a:r>
            <a:endParaRPr b="1" i="0" sz="2200" u="none" cap="none" strike="noStrike"/>
          </a:p>
        </p:txBody>
      </p:sp>
      <p:sp>
        <p:nvSpPr>
          <p:cNvPr id="191" name="Google Shape;191;p21"/>
          <p:cNvSpPr/>
          <p:nvPr/>
        </p:nvSpPr>
        <p:spPr>
          <a:xfrm>
            <a:off x="1530906" y="2664738"/>
            <a:ext cx="86481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Implement user authentication and session management.</a:t>
            </a:r>
            <a:endParaRPr b="0" i="0" sz="175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530906" y="3559135"/>
            <a:ext cx="289048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JSON Not Scalable</a:t>
            </a:r>
            <a:endParaRPr b="1" i="0" sz="220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1530906" y="4049554"/>
            <a:ext cx="86481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Replace with SQLite or MongoDB for larger task numbers.</a:t>
            </a:r>
            <a:endParaRPr b="0" i="0" sz="1750" u="none" cap="none" strike="noStrike"/>
          </a:p>
        </p:txBody>
      </p:sp>
      <p:sp>
        <p:nvSpPr>
          <p:cNvPr id="195" name="Google Shape;195;p21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1530906" y="4943951"/>
            <a:ext cx="306050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No Recurring Tasks</a:t>
            </a:r>
            <a:endParaRPr b="1" i="0" sz="2200" u="none" cap="none" strike="noStrike"/>
          </a:p>
        </p:txBody>
      </p:sp>
      <p:sp>
        <p:nvSpPr>
          <p:cNvPr id="197" name="Google Shape;197;p21"/>
          <p:cNvSpPr/>
          <p:nvPr/>
        </p:nvSpPr>
        <p:spPr>
          <a:xfrm>
            <a:off x="1530906" y="5434370"/>
            <a:ext cx="86481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Add functionality for daily, weekly, or custom intervals.</a:t>
            </a:r>
            <a:endParaRPr b="0" i="0" sz="175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2E2E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1530906" y="6328767"/>
            <a:ext cx="35705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Fira Mono"/>
              <a:buNone/>
            </a:pPr>
            <a:r>
              <a:rPr b="1" i="0" lang="en-US" sz="2200" u="none" cap="none" strike="noStrike">
                <a:solidFill>
                  <a:srgbClr val="E0D6DE"/>
                </a:solidFill>
                <a:latin typeface="Fira Mono"/>
                <a:ea typeface="Fira Mono"/>
                <a:cs typeface="Fira Mono"/>
                <a:sym typeface="Fira Mono"/>
              </a:rPr>
              <a:t>In-App Only Reminders</a:t>
            </a:r>
            <a:endParaRPr b="1" i="0" sz="2200" u="none" cap="none" strike="noStrike"/>
          </a:p>
        </p:txBody>
      </p:sp>
      <p:sp>
        <p:nvSpPr>
          <p:cNvPr id="200" name="Google Shape;200;p21"/>
          <p:cNvSpPr/>
          <p:nvPr/>
        </p:nvSpPr>
        <p:spPr>
          <a:xfrm>
            <a:off x="1530906" y="6819186"/>
            <a:ext cx="86481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Expand to OS-level, email, or mobile push notifications.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4479846" y="180701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BF3FA"/>
              </a:buClr>
              <a:buSzPts val="4450"/>
              <a:buFont typeface="Fira Mono"/>
              <a:buNone/>
            </a:pPr>
            <a:r>
              <a:rPr b="0" i="0" lang="en-US" sz="4450" u="none" cap="none" strike="noStrike">
                <a:solidFill>
                  <a:srgbClr val="FBF3FA"/>
                </a:solidFill>
                <a:latin typeface="Fira Mono"/>
                <a:ea typeface="Fira Mono"/>
                <a:cs typeface="Fira Mono"/>
                <a:sym typeface="Fira Mono"/>
              </a:rPr>
              <a:t>THANK YOU!</a:t>
            </a:r>
            <a:endParaRPr b="0" i="0" sz="4450" u="none" cap="none" strike="noStrike"/>
          </a:p>
        </p:txBody>
      </p:sp>
      <p:sp>
        <p:nvSpPr>
          <p:cNvPr id="207" name="Google Shape;207;p22"/>
          <p:cNvSpPr/>
          <p:nvPr/>
        </p:nvSpPr>
        <p:spPr>
          <a:xfrm>
            <a:off x="793790" y="296941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ANY QUESTIONS?</a:t>
            </a:r>
            <a:endParaRPr b="0" i="0" sz="1750" u="none" cap="none" strike="noStrike"/>
          </a:p>
        </p:txBody>
      </p:sp>
      <p:sp>
        <p:nvSpPr>
          <p:cNvPr id="208" name="Google Shape;208;p22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209" name="Google Shape;209;p2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Group Members: Arsema Yemiru </a:t>
            </a:r>
            <a:endParaRPr b="0" i="0" sz="1750" u="none" cap="none" strike="noStrike"/>
          </a:p>
        </p:txBody>
      </p:sp>
      <p:sp>
        <p:nvSpPr>
          <p:cNvPr id="210" name="Google Shape;210;p2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                            Meklit Tewodros</a:t>
            </a:r>
            <a:endParaRPr b="0" i="0" sz="175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                            Tnsae Alemayehu </a:t>
            </a:r>
            <a:endParaRPr b="0" i="0" sz="1750" u="none" cap="none" strike="noStrike"/>
          </a:p>
        </p:txBody>
      </p:sp>
      <p:sp>
        <p:nvSpPr>
          <p:cNvPr id="212" name="Google Shape;212;p22"/>
          <p:cNvSpPr/>
          <p:nvPr/>
        </p:nvSpPr>
        <p:spPr>
          <a:xfrm>
            <a:off x="793790" y="605968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                            Yeabtsega Argaw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